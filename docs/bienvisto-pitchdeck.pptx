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88952" cy="45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74980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PLATAFORMA SAAS · PROPUESTA PARA CNC 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Sus datos de reputación,</a:t>
            </a:r>
          </a:p>
          <a:p>
            <a:pPr algn="l"/>
            <a:r>
              <a:rPr sz="4000" b="1">
                <a:solidFill>
                  <a:srgbClr val="38BDF8"/>
                </a:solidFill>
              </a:rPr>
              <a:t>convertidos en producto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Bienvisto transforma los índices del Centro Nacional de Consultoría en inteligencia accionable —
un producto digital recurrente, escalable y sin precedentes en Colombia.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63640"/>
            <a:ext cx="12188952" cy="45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2194560" cy="274320"/>
          </a:xfrm>
          <a:prstGeom prst="rect">
            <a:avLst/>
          </a:prstGeom>
          <a:solidFill>
            <a:srgbClr val="12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● Bienvisto Reputación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6400800"/>
            <a:ext cx="2194560" cy="274320"/>
          </a:xfrm>
          <a:prstGeom prst="rect">
            <a:avLst/>
          </a:prstGeom>
          <a:solidFill>
            <a:srgbClr val="12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6400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● Bienvisto Satisfacción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400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01168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</a:rPr>
              <a:t>01.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</a:rPr>
              <a:t>Su reputación cambia cada día.
Su último informe tiene 11 meses y 200 diapositivas que nadie leyó.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Para extraerle valor, el director de Comunicaciones tiene que leerlo completo, buscar los datos que le aplican, construir su propia presentación desde cero y explicarle a la junta qué significa cada número. Todo eso, mientras su reputación sigue cambiando.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86000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286000"/>
            <a:ext cx="3566160" cy="411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Consultoría inalcanzable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La mayoría de empresas medianas no tiene presupuesto para contratar una consultoría de reputación. El conocimiento especializado está fuera de su alcance.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2286000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8808" y="2286000"/>
            <a:ext cx="356616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Informes estáticos sin acción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8803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Los resultados llegan en PDF genéricos que no pueden actualizarse, personalizarse ni comunicarse fácilmente a la junta directiva.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46136" y="2286000"/>
            <a:ext cx="35661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46136" y="2286000"/>
            <a:ext cx="356616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Sin visibilidad continua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9016" y="28803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La reputación se mide una vez al año. Entre mediciones, la empresa no sabe cómo evolucionan sus indicadores ni qué dice el entorno.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01168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02.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Bienvisto: una plataforma de autoservicio con IA — para cada director, sin consultores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Dos productos especializados. Un solo motor de datos e inteligencia artificial.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5486400" cy="3931920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91640"/>
            <a:ext cx="54864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PRODUCTO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Bienvisto Reputación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Diagnóstico, monitoreo en tiempo real y generación automática de contenido sobre la reputación corporativa. Conectado a redes sociales y fuentes noticiosas.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↳ Director de Comunicaciones / Sostenibilidad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691640"/>
            <a:ext cx="5486400" cy="3931920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691640"/>
            <a:ext cx="5486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828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CD34D"/>
                </a:solidFill>
              </a:rPr>
              <a:t>PRODUCTO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148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Bienvisto Satisfacción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6517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Medición continua de satisfacción de clientes y stakeholders. Encuestas inteligentes, análisis automático y recomendaciones accionables.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983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↳ Director Comercial / Experiencia al Cliente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852160"/>
            <a:ext cx="11365992" cy="411480"/>
          </a:xfrm>
          <a:prstGeom prst="rect">
            <a:avLst/>
          </a:prstGeom>
          <a:solidFill>
            <a:srgbClr val="0C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85216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8BDF8"/>
                </a:solidFill>
              </a:rPr>
              <a:t>Ambos productos comparten infraestructura — dos compradores distintos dentro de cada empresa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01168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</a:rPr>
              <a:t>03. CASO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De cero a diagnóstico completo, sin consultores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La plataforma lleva de la mano al director de Comunicaciones a través de un flujo guiado.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26974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A5E9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Ingresa a la plataforma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Responde un cuestionario inicial sobre su empresa, sector y stakeholders clave.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611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600200"/>
            <a:ext cx="26974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783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A5E9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402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Provee datos o contactos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8803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Sube documentos, conecta fuentes externas o entrega su base de stakeholders. La plataforma diseña y distribuye encuestas con la periodicidad que defina.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611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600200"/>
            <a:ext cx="26974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783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EA5E9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402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IA procesa y analiza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803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El motor de IA cruza datos internos, reputación online y casos históricos similares.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6118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600200"/>
            <a:ext cx="2697480" cy="43891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83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8BDF8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2402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Diagnóstico + recomendaciones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8803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Reporte listo para la junta directiva, con casos de empresas similares y plan de acción.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01168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04.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Una herramienta viva — no un informe 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El índice de reputación se actualiza continuamente con lo que pasa en el mundo.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566160" cy="438912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EA5E9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Dashboard interactivo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Visualización de indicadores de reputación y satisfacción. Evolución temporal, comparativo sectorial y score consolidado con semáforo.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FASE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8" y="1600200"/>
            <a:ext cx="3566160" cy="438912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9E0B"/>
                </a:solidFill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Conexión a redes sociales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8346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 que pasa en las redes de la empresa actualiza automáticamente su índice de reputación. Alertas en tiempo real.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5486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FASE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46136" y="1600200"/>
            <a:ext cx="3566160" cy="438912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0B981"/>
                </a:solidFill>
              </a:rPr>
              <a:t>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Monitoreo de noticias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8346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Las noticias que mencionan a la empresa se analizan y alimentan el índice. La empresa sabe exactamente qué dice el entorno.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5486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FASE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01168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</a:rPr>
              <a:t>05. GENERACIÓN CON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Del dato al reporte ejecutivo — en minutos, no semanas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La empresa genera contenido profesional listo para presentar. Paga por créditos según su uso.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EA5E9"/>
                </a:solidFill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Reporte PDF ejecutivo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Análisis narrativo automatizado con gráficas, conclusiones y recomendaciones. Listo para la junta directiva.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</a:rPr>
              <a:t>10–25 créditos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8808" y="16002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EA5E9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Presentación PPT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8346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Diapositivas profesionales con los datos clave generadas automáticamente. Editables y listas para usar.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5349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</a:rPr>
              <a:t>20 créditos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53492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4155"/>
                </a:solidFill>
              </a:rPr>
              <a:t>FASE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46136" y="16002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EA5E9"/>
                </a:solidFill>
              </a:rPr>
              <a:t>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Video narrativo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8346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Resumen ejecutivo en video con voz sintetizada y visualización de datos. Estilo podcast empresarial.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5349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A5E9"/>
                </a:solidFill>
              </a:rPr>
              <a:t>100–250 créditos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53492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34155"/>
                </a:solidFill>
              </a:rPr>
              <a:t>FASE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01168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06. MODELO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Freemium + créditos AI — las empresas pagan por lo que usan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Acceso gratuito al dashboard. Pago por generación de contenido con 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566160" cy="438912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$0/mes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20 créditos/mes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3108960" cy="9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✓  Dashboard de indicadores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301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✓  Último período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142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✓  1 reporte PDF básico/mes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8808" y="1600200"/>
            <a:ext cx="3566160" cy="43891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BÁSICO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103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$500K–$1.5M/mes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697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200 créditos/mes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8" y="3108960"/>
            <a:ext cx="3108960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3246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Todo del plan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36301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Histórico completo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0142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Comparativo sectorial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39826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 PPT automatizado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6136" y="1600200"/>
            <a:ext cx="3566160" cy="438912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</a:rPr>
              <a:t>PREMIUM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2103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$2M–$5M/mes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2697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1.000 créditos/mes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74736" y="3108960"/>
            <a:ext cx="3108960" cy="91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74736" y="3246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✓  Todo del plan Básico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36301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✓  Monitoreo redes y noticias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0142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✓  Videos narrativos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439826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✓  Usuarios ilimitados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01168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</a:rPr>
              <a:t>07.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El mercado empieza con las empresas que el CNC ya conoce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Primario, secundario y expansión regional — sin cambiar la propuesta de valor.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</a:rPr>
              <a:t>MERCADO PRIMARIO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3460"/>
                </a:solidFill>
              </a:rPr>
              <a:t>500+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Empresas en las bases de datos del CNC que ya participan en mediciones de reputación y satisfacción.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Relación comercial existente. Adopción inmediata posible.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8808" y="16002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MERCADO SECUNDARIO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3460"/>
                </a:solidFill>
              </a:rPr>
              <a:t>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880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Empresas colombianas que aún no participan en mediciones pero necesitan gestionar su reputación.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4800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El plan Free actúa como herramienta de captación para el CNC.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46136" y="160020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6" y="1783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EXPANSIÓN REGIONAL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3460"/>
                </a:solidFill>
              </a:rPr>
              <a:t>8 países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880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México, Perú, Chile, Brasil y más. El CNC tiene presencia o alianzas en toda la región.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4800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La plataforma se replica sin cambios significativos.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01168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08. POR QUÉ AHORA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Una propuesta sin precedentes en el mercado colombiano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Cuatro factores que hacen viable esta iniciativa hoy.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394960" cy="160020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4A7A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0992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Sin competencia directa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4434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Ningún proveedor de rankings de reputación en Colombia ofrece una plataforma de autoservicio con IA. El mercado está completamente abierto.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600200"/>
            <a:ext cx="5394960" cy="160020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373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4A7A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70992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 IA lo hace posible hoy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2103120"/>
            <a:ext cx="4434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El costo de generación de análisis con IA ha caído a $0.02–$0.10 por reporte. Hace 3 años esto era inviable económicamente.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64992"/>
            <a:ext cx="5394960" cy="160020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021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4A7A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47472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El CNC tiene el activo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67912"/>
            <a:ext cx="4434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Años de datos de reputación de cientos de empresas. Un repositorio único en Colombia que nadie más tiene.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364992"/>
            <a:ext cx="5394960" cy="160020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5021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4A7A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347472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Retención bidireccional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3867912"/>
            <a:ext cx="4434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Las empresas que usan la plataforma necesitan seguir participando en las mediciones del CNC. El producto genera retención para ambas partes.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6080760"/>
            <a:ext cx="11365992" cy="475488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080760"/>
            <a:ext cx="113659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D34D"/>
                </a:solidFill>
              </a:rPr>
              <a:t>El que establece el estándar de medición captura el mercado de largo plazo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01168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</a:rPr>
              <a:t>09.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72A"/>
                </a:solidFill>
              </a:rPr>
              <a:t>Contrato a 6 meses con revisiones mensuales y entregas concretas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Un roadmap claro: MVP en el mes 1, Reputación en el mes 3, Satisfacción en el mes 5.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35661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56616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09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EA5E9"/>
                </a:solidFill>
              </a:rPr>
              <a:t>MES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MVP funcional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Primera versión operativa con datos reales del CNC. Revisión mensual para validar dirección y ajustar prioridades.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EA5E9"/>
                </a:solidFill>
              </a:rPr>
              <a:t>Primera entrega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8" y="1600200"/>
            <a:ext cx="35661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8808" y="1600200"/>
            <a:ext cx="35661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709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MES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Bienvisto Reputación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514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Producto completo con monitoreo en tiempo real, encuestas propias, generación de contenido con IA y dashboard de indicadores.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Producto 1 listo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1600200"/>
            <a:ext cx="35661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46136" y="1600200"/>
            <a:ext cx="35661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1709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MES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Bienvisto Satisfacción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2514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Producto completo de medición y gestión de satisfacción de clientes. Listo para primeras empresas piloto.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6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Producto 2 listo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120640"/>
            <a:ext cx="11365992" cy="777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9379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CNC aporta: datos + marca + relaciones comerciales.
Equipo técnico aporta: desarrollo + tecnología + conocimiento de reputación.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52120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CD34D"/>
                </a:solidFill>
              </a:rPr>
              <a:t>Sociedad
45 / 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01168"/>
            <a:ext cx="32004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10.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El punto de equilibrio es alcanzable con 6 a 18 empresas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Costo operativo bajo. Escalabilidad sin límite.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COSTO MENSUAL EN PRODUCCIÓN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65960"/>
            <a:ext cx="5303520" cy="50292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208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Programador (desarrollo + mantenimiento)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2082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$4.000.000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560320"/>
            <a:ext cx="5303520" cy="50292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Especialista en reputación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151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$2–4.000.000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54680"/>
            <a:ext cx="5303520" cy="50292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095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Infraestructura cloud (Azure/AWS)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095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~$600.000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49040"/>
            <a:ext cx="5303520" cy="502920"/>
          </a:xfrm>
          <a:prstGeom prst="rect">
            <a:avLst/>
          </a:prstGeom>
          <a:solidFill>
            <a:srgbClr val="0E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039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APIs de IA (escenario medio)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80390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~$258.000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343400"/>
            <a:ext cx="5303520" cy="548640"/>
          </a:xfrm>
          <a:prstGeom prst="rect">
            <a:avLst/>
          </a:prstGeom>
          <a:solidFill>
            <a:srgbClr val="0A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165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Total operativo / 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4165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8BDF8"/>
                </a:solidFill>
              </a:rPr>
              <a:t>~$8.500.000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CD34D"/>
                </a:solidFill>
              </a:rPr>
              <a:t>PUNTO DE EQUILIBRIO — PLAN BÁSICO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$500.000/mes por empresa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D34D"/>
                </a:solidFill>
              </a:rPr>
              <a:t>18 empresas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624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$1.000.000/mes por empresa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624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D34D"/>
                </a:solidFill>
              </a:rPr>
              <a:t>9 empresas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28269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$1.500.000/mes por empresa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2826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D34D"/>
                </a:solidFill>
              </a:rPr>
              <a:t>6 empresas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069080"/>
            <a:ext cx="5669280" cy="914400"/>
          </a:xfrm>
          <a:prstGeom prst="rect">
            <a:avLst/>
          </a:prstGeom>
          <a:solidFill>
            <a:srgbClr val="1A3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1605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El CNC ya tiene acceso a cientos de empresas clientes.
El punto de equilibrio representa apenas el 1–3% de esa 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460"/>
                </a:solidFill>
              </a:rPr>
              <a:t>Bienvisto  REPUTACIÓN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12801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972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</a:rPr>
              <a:t>Lo que necesitamos para arrancar — del lado del CNC y del equipo técnico.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1136599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18488"/>
            <a:ext cx="41148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18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49961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Firma del contrato y acuerdo societario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4708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Formalizar la asociación antes de compartir datos. Todos los vacíos resueltos en papel.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4472" y="16642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Sem. 6 Abr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94560"/>
            <a:ext cx="11365992" cy="7132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50008"/>
            <a:ext cx="4114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50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23113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CNC entrega datos de reputación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7860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Datos de reputación del CNC para construir el MVP. Es el único insumo necesario en el mes 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4472" y="23957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Sem. 6 Abr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26080"/>
            <a:ext cx="1136599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081528"/>
            <a:ext cx="4114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96265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Definición de precios por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3101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El CNC define la estrategia de precios final considerando su base de clientes.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4472" y="31272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Sem. 13 Abr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57600"/>
            <a:ext cx="11365992" cy="71323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813048"/>
            <a:ext cx="411480" cy="41148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13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69417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MVP — Decisión de iterar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0416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</a:rPr>
              <a:t>El CNC revisa el MVP con sus datos reales y define las iteraciones del siguiente mes.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4472" y="3858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4A3B8"/>
                </a:solidFill>
              </a:rPr>
              <a:t>11 May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480560"/>
            <a:ext cx="11365992" cy="7498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55371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El CNC aporta los datos y la relación con sus clientes.
El equipo técnico aporta el producto que los convierte en ingresos recurrentes.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2952" y="46817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</a:rPr>
              <a:t>Empecemos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